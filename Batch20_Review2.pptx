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908" r:id="rId5"/>
    <p:sldId id="911" r:id="rId6"/>
    <p:sldId id="909" r:id="rId7"/>
    <p:sldId id="257" r:id="rId8"/>
    <p:sldId id="903" r:id="rId9"/>
    <p:sldId id="902" r:id="rId10"/>
    <p:sldId id="258" r:id="rId11"/>
    <p:sldId id="259" r:id="rId12"/>
    <p:sldId id="260" r:id="rId13"/>
    <p:sldId id="9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948135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Susmitha(2420030045)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N. Amrutha Lekha (2420030477)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171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 Neelima G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  <p:sp>
        <p:nvSpPr>
          <p:cNvPr id="3" name="Rectangle: Rounded Corners 2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ImpactFlow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-AI Powered Adaptive Software Change Impact &amp; Risk Prediction Platform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What We'll Cover Today</a:t>
            </a:r>
          </a:p>
        </p:txBody>
      </p:sp>
      <p:sp>
        <p:nvSpPr>
          <p:cNvPr id="98" name="Subtitle"/>
          <p:cNvSpPr txBox="1"/>
          <p:nvPr/>
        </p:nvSpPr>
        <p:spPr>
          <a:xfrm>
            <a:off x="685800" y="860000"/>
            <a:ext cx="10820400" cy="2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i="1" dirty="0">
                <a:solidFill>
                  <a:srgbClr val="7F8C9B"/>
                </a:solidFill>
                <a:latin typeface="Calibri"/>
              </a:rPr>
              <a:t>Agenda – SOA Project Review-2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101" name="Row BG 1"/>
          <p:cNvSpPr/>
          <p:nvPr/>
        </p:nvSpPr>
        <p:spPr>
          <a:xfrm>
            <a:off x="685800" y="1160000"/>
            <a:ext cx="10820400" cy="540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 Badge 1"/>
          <p:cNvSpPr/>
          <p:nvPr/>
        </p:nvSpPr>
        <p:spPr>
          <a:xfrm>
            <a:off x="795800" y="1230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3" name="Item Title 1"/>
          <p:cNvSpPr txBox="1"/>
          <p:nvPr/>
        </p:nvSpPr>
        <p:spPr>
          <a:xfrm>
            <a:off x="1355800" y="1160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Review-1 Recap: Problem &amp; Approach</a:t>
            </a:r>
          </a:p>
        </p:txBody>
      </p:sp>
      <p:sp>
        <p:nvSpPr>
          <p:cNvPr id="104" name="Slide Ref 1"/>
          <p:cNvSpPr txBox="1"/>
          <p:nvPr/>
        </p:nvSpPr>
        <p:spPr>
          <a:xfrm>
            <a:off x="10156200" y="1160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3</a:t>
            </a:r>
          </a:p>
        </p:txBody>
      </p:sp>
      <p:sp>
        <p:nvSpPr>
          <p:cNvPr id="105" name="Row BG 2"/>
          <p:cNvSpPr/>
          <p:nvPr/>
        </p:nvSpPr>
        <p:spPr>
          <a:xfrm>
            <a:off x="685800" y="1744000"/>
            <a:ext cx="10820400" cy="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Num Badge 2"/>
          <p:cNvSpPr/>
          <p:nvPr/>
        </p:nvSpPr>
        <p:spPr>
          <a:xfrm>
            <a:off x="795800" y="1814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7" name="Item Title 2"/>
          <p:cNvSpPr txBox="1"/>
          <p:nvPr/>
        </p:nvSpPr>
        <p:spPr>
          <a:xfrm>
            <a:off x="1355800" y="1744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Project Design – ImpactFlow</a:t>
            </a:r>
          </a:p>
        </p:txBody>
      </p:sp>
      <p:sp>
        <p:nvSpPr>
          <p:cNvPr id="108" name="Slide Ref 2"/>
          <p:cNvSpPr txBox="1"/>
          <p:nvPr/>
        </p:nvSpPr>
        <p:spPr>
          <a:xfrm>
            <a:off x="10156200" y="1744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4</a:t>
            </a:r>
          </a:p>
        </p:txBody>
      </p:sp>
      <p:sp>
        <p:nvSpPr>
          <p:cNvPr id="109" name="Row BG 3"/>
          <p:cNvSpPr/>
          <p:nvPr/>
        </p:nvSpPr>
        <p:spPr>
          <a:xfrm>
            <a:off x="685800" y="2328000"/>
            <a:ext cx="10820400" cy="540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 Badge 3"/>
          <p:cNvSpPr/>
          <p:nvPr/>
        </p:nvSpPr>
        <p:spPr>
          <a:xfrm>
            <a:off x="795800" y="2398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1" name="Item Title 3"/>
          <p:cNvSpPr txBox="1"/>
          <p:nvPr/>
        </p:nvSpPr>
        <p:spPr>
          <a:xfrm>
            <a:off x="1355800" y="2328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SOA Architecture – Component Design</a:t>
            </a:r>
          </a:p>
        </p:txBody>
      </p:sp>
      <p:sp>
        <p:nvSpPr>
          <p:cNvPr id="112" name="Slide Ref 3"/>
          <p:cNvSpPr txBox="1"/>
          <p:nvPr/>
        </p:nvSpPr>
        <p:spPr>
          <a:xfrm>
            <a:off x="10156200" y="2328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5</a:t>
            </a:r>
          </a:p>
        </p:txBody>
      </p:sp>
      <p:sp>
        <p:nvSpPr>
          <p:cNvPr id="113" name="Row BG 4"/>
          <p:cNvSpPr/>
          <p:nvPr/>
        </p:nvSpPr>
        <p:spPr>
          <a:xfrm>
            <a:off x="685800" y="2912000"/>
            <a:ext cx="10820400" cy="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Num Badge 4"/>
          <p:cNvSpPr/>
          <p:nvPr/>
        </p:nvSpPr>
        <p:spPr>
          <a:xfrm>
            <a:off x="795800" y="2982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15" name="Item Title 4"/>
          <p:cNvSpPr txBox="1"/>
          <p:nvPr/>
        </p:nvSpPr>
        <p:spPr>
          <a:xfrm>
            <a:off x="1355800" y="2912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Layered Architecture of ImpactFlow</a:t>
            </a:r>
          </a:p>
        </p:txBody>
      </p:sp>
      <p:sp>
        <p:nvSpPr>
          <p:cNvPr id="116" name="Slide Ref 4"/>
          <p:cNvSpPr txBox="1"/>
          <p:nvPr/>
        </p:nvSpPr>
        <p:spPr>
          <a:xfrm>
            <a:off x="10156200" y="2912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6</a:t>
            </a:r>
          </a:p>
        </p:txBody>
      </p:sp>
      <p:sp>
        <p:nvSpPr>
          <p:cNvPr id="117" name="Row BG 5"/>
          <p:cNvSpPr/>
          <p:nvPr/>
        </p:nvSpPr>
        <p:spPr>
          <a:xfrm>
            <a:off x="685800" y="3496000"/>
            <a:ext cx="10820400" cy="540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Num Badge 5"/>
          <p:cNvSpPr/>
          <p:nvPr/>
        </p:nvSpPr>
        <p:spPr>
          <a:xfrm>
            <a:off x="795800" y="3566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19" name="Item Title 5"/>
          <p:cNvSpPr txBox="1"/>
          <p:nvPr/>
        </p:nvSpPr>
        <p:spPr>
          <a:xfrm>
            <a:off x="1355800" y="3496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Services / Modules in ImpactFlow</a:t>
            </a:r>
          </a:p>
        </p:txBody>
      </p:sp>
      <p:sp>
        <p:nvSpPr>
          <p:cNvPr id="120" name="Slide Ref 5"/>
          <p:cNvSpPr txBox="1"/>
          <p:nvPr/>
        </p:nvSpPr>
        <p:spPr>
          <a:xfrm>
            <a:off x="10156200" y="3496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7</a:t>
            </a:r>
          </a:p>
        </p:txBody>
      </p:sp>
      <p:sp>
        <p:nvSpPr>
          <p:cNvPr id="121" name="Row BG 6"/>
          <p:cNvSpPr/>
          <p:nvPr/>
        </p:nvSpPr>
        <p:spPr>
          <a:xfrm>
            <a:off x="685800" y="4080000"/>
            <a:ext cx="10820400" cy="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 Badge 6"/>
          <p:cNvSpPr/>
          <p:nvPr/>
        </p:nvSpPr>
        <p:spPr>
          <a:xfrm>
            <a:off x="795800" y="4150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23" name="Item Title 6"/>
          <p:cNvSpPr txBox="1"/>
          <p:nvPr/>
        </p:nvSpPr>
        <p:spPr>
          <a:xfrm>
            <a:off x="1355800" y="4080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Microservices Security</a:t>
            </a:r>
          </a:p>
        </p:txBody>
      </p:sp>
      <p:sp>
        <p:nvSpPr>
          <p:cNvPr id="124" name="Slide Ref 6"/>
          <p:cNvSpPr txBox="1"/>
          <p:nvPr/>
        </p:nvSpPr>
        <p:spPr>
          <a:xfrm>
            <a:off x="10156200" y="4080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8</a:t>
            </a:r>
          </a:p>
        </p:txBody>
      </p:sp>
      <p:sp>
        <p:nvSpPr>
          <p:cNvPr id="125" name="Row BG 7"/>
          <p:cNvSpPr/>
          <p:nvPr/>
        </p:nvSpPr>
        <p:spPr>
          <a:xfrm>
            <a:off x="685800" y="4664000"/>
            <a:ext cx="10820400" cy="540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Num Badge 7"/>
          <p:cNvSpPr/>
          <p:nvPr/>
        </p:nvSpPr>
        <p:spPr>
          <a:xfrm>
            <a:off x="795800" y="4734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27" name="Item Title 7"/>
          <p:cNvSpPr txBox="1"/>
          <p:nvPr/>
        </p:nvSpPr>
        <p:spPr>
          <a:xfrm>
            <a:off x="1355800" y="4664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Key Advantages of ImpactFlow</a:t>
            </a:r>
          </a:p>
        </p:txBody>
      </p:sp>
      <p:sp>
        <p:nvSpPr>
          <p:cNvPr id="128" name="Slide Ref 7"/>
          <p:cNvSpPr txBox="1"/>
          <p:nvPr/>
        </p:nvSpPr>
        <p:spPr>
          <a:xfrm>
            <a:off x="10156200" y="4664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9</a:t>
            </a:r>
          </a:p>
        </p:txBody>
      </p:sp>
      <p:sp>
        <p:nvSpPr>
          <p:cNvPr id="129" name="Row BG 8"/>
          <p:cNvSpPr/>
          <p:nvPr/>
        </p:nvSpPr>
        <p:spPr>
          <a:xfrm>
            <a:off x="685800" y="5248000"/>
            <a:ext cx="10820400" cy="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Num Badge 8"/>
          <p:cNvSpPr/>
          <p:nvPr/>
        </p:nvSpPr>
        <p:spPr>
          <a:xfrm>
            <a:off x="795800" y="5318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31" name="Item Title 8"/>
          <p:cNvSpPr txBox="1"/>
          <p:nvPr/>
        </p:nvSpPr>
        <p:spPr>
          <a:xfrm>
            <a:off x="1355800" y="5248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Detailed Technical Design – ImpactFlow</a:t>
            </a:r>
          </a:p>
        </p:txBody>
      </p:sp>
      <p:sp>
        <p:nvSpPr>
          <p:cNvPr id="132" name="Slide Ref 8"/>
          <p:cNvSpPr txBox="1"/>
          <p:nvPr/>
        </p:nvSpPr>
        <p:spPr>
          <a:xfrm>
            <a:off x="10156200" y="5248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10</a:t>
            </a:r>
          </a:p>
        </p:txBody>
      </p:sp>
      <p:sp>
        <p:nvSpPr>
          <p:cNvPr id="133" name="Row BG 9"/>
          <p:cNvSpPr/>
          <p:nvPr/>
        </p:nvSpPr>
        <p:spPr>
          <a:xfrm>
            <a:off x="685800" y="5832000"/>
            <a:ext cx="10820400" cy="540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Num Badge 9"/>
          <p:cNvSpPr/>
          <p:nvPr/>
        </p:nvSpPr>
        <p:spPr>
          <a:xfrm>
            <a:off x="795800" y="590200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35" name="Item Title 9"/>
          <p:cNvSpPr txBox="1"/>
          <p:nvPr/>
        </p:nvSpPr>
        <p:spPr>
          <a:xfrm>
            <a:off x="1355800" y="5832000"/>
            <a:ext cx="81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r>
              <a:rPr lang="en-US" sz="1600" b="1" dirty="0">
                <a:solidFill>
                  <a:srgbClr val="1F2D3D"/>
                </a:solidFill>
                <a:latin typeface="Calibri"/>
              </a:rPr>
              <a:t>Implementation Status</a:t>
            </a:r>
          </a:p>
        </p:txBody>
      </p:sp>
      <p:sp>
        <p:nvSpPr>
          <p:cNvPr id="136" name="Slide Ref 9"/>
          <p:cNvSpPr txBox="1"/>
          <p:nvPr/>
        </p:nvSpPr>
        <p:spPr>
          <a:xfrm>
            <a:off x="10156200" y="5832000"/>
            <a:ext cx="1200000" cy="540000"/>
          </a:xfrm>
          <a:prstGeom prst="rect">
            <a:avLst/>
          </a:prstGeom>
          <a:noFill/>
        </p:spPr>
        <p:txBody>
          <a:bodyPr anchor="ctr" lIns="0" rIns="0" tIns="0" bIns="0" wrap="square">
            <a:noAutofit/>
          </a:bodyPr>
          <a:lstStyle/>
          <a:p>
            <a:pPr algn="r"/>
            <a:r>
              <a:rPr lang="en-US" sz="1200" dirty="0">
                <a:solidFill>
                  <a:srgbClr val="7F8C9B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Review-1 Recap: Problem &amp; Approach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Problem: </a:t>
            </a:r>
            <a:r>
              <a:rPr lang="en-IN" sz="2000" dirty="0"/>
              <a:t>In microservice systems, a small change can affect multiple interconnected services, making service dependencies and overall impact difficult to track.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err="1"/>
              <a:t>ImpactFlow</a:t>
            </a:r>
            <a:r>
              <a:rPr lang="en-US" sz="1900" dirty="0"/>
              <a:t> </a:t>
            </a:r>
            <a:r>
              <a:rPr lang="en-IN" sz="2000" dirty="0"/>
              <a:t>analyses a proposed change, its dependency relationships, and affected services to identify potential impact and predict change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Platform uses Spring Boot microservices, REST APIs, Eureka Service Discovery, Spring Cloud Gateway, Kafka event-driven communication, and JWT-based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Review-1 </a:t>
            </a:r>
            <a:r>
              <a:rPr lang="en-IN" sz="2000" dirty="0"/>
              <a:t>established the core SOA and microservices architecture, including service communication, contracts, discovery, security, and database-per-service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Review-2 focuses on deeper SOA concepts: communication patterns, orchestration vs choreography, SOA vs microservices, security, service discovery, API Gateway, and testing.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0E20DE-CFCE-5063-EB3A-733E769F3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5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66088-D3B5-5A49-7129-3C5808D01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-8550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E8073-A791-13BB-7D32-E3313023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739140" y="1724015"/>
            <a:ext cx="108204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/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882445" y="1858000"/>
            <a:ext cx="108204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F7B31-1040-EA8C-B8AE-A1A61606F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0550013" cy="6789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Microservices Security</a:t>
            </a:r>
            <a:endParaRPr lang="en-US" sz="3600" b="1" dirty="0"/>
          </a:p>
        </p:txBody>
      </p:sp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Authentication:</a:t>
            </a:r>
            <a:r>
              <a:rPr lang="en-IN" sz="2000" dirty="0"/>
              <a:t> </a:t>
            </a:r>
            <a:r>
              <a:rPr lang="en-IN" sz="2000" dirty="0" err="1"/>
              <a:t>ImpactFlow</a:t>
            </a:r>
            <a:r>
              <a:rPr lang="en-IN" sz="2000" dirty="0"/>
              <a:t> uses </a:t>
            </a:r>
            <a:r>
              <a:rPr lang="en-IN" sz="2000" b="1" dirty="0"/>
              <a:t>Spring Security with JWT</a:t>
            </a:r>
            <a:r>
              <a:rPr lang="en-IN" sz="2000" dirty="0"/>
              <a:t> to authenticate users and secure service access.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Authorization:</a:t>
            </a:r>
            <a:r>
              <a:rPr lang="en-IN" sz="2000" dirty="0"/>
              <a:t> JWT-based access control ensures that authenticated requests can access protected microservice APIs.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CORS:</a:t>
            </a:r>
            <a:r>
              <a:rPr lang="en-IN" sz="2000" dirty="0"/>
              <a:t> Cross-Origin Resource Sharing is configured to control which frontend origins can communicate with backend APIs.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TLS/SSL:</a:t>
            </a:r>
            <a:r>
              <a:rPr lang="en-IN" sz="2000" dirty="0"/>
              <a:t> TLS can secure communication between clients, gateways, and services, protecting data in transit.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Security Testing:</a:t>
            </a:r>
            <a:r>
              <a:rPr lang="en-IN" sz="2000" dirty="0"/>
              <a:t> Authentication and authorization should be validated through security-focused unit and integration tests.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Security Best Practices:</a:t>
            </a:r>
            <a:r>
              <a:rPr lang="en-IN" sz="2000" dirty="0"/>
              <a:t> Secrets such as JWT keys and database credentials should be managed securely rather than stored directly in application code or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D03B7-4DDA-9BEB-CD14-24D5D2860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2321187"/>
            <a:ext cx="10820400" cy="4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1E40E-E09C-4BA4-C693-2318E8E26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26"/>
            <a:ext cx="12034683" cy="6754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Implementation Status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564472"/>
            <a:ext cx="10820400" cy="13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Core </a:t>
            </a:r>
            <a:r>
              <a:rPr lang="en-IN" sz="1400" b="1" dirty="0"/>
              <a:t>microservices, REST APIs, Eureka service discovery, Spring Cloud Gateway, JWT security, and database-per-service design</a:t>
            </a:r>
            <a:r>
              <a:rPr lang="en-IN" sz="1400" dirty="0"/>
              <a:t> are implemented.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Kafka event-driven communication</a:t>
            </a:r>
            <a:r>
              <a:rPr lang="en-IN" sz="1400" dirty="0"/>
              <a:t> is implemented between Change Analysis, Risk Prediction, and Report services.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SOA communication patterns, service contracts, API routing, and dependency-based service interaction</a:t>
            </a:r>
            <a:r>
              <a:rPr lang="en-IN" sz="1400" dirty="0"/>
              <a:t> are demonstrated through the project architecture.</a:t>
            </a:r>
          </a:p>
          <a:p>
            <a:pPr lvl="0"/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187647"/>
              </p:ext>
            </p:extLst>
          </p:nvPr>
        </p:nvGraphicFramePr>
        <p:xfrm>
          <a:off x="685800" y="3050000"/>
          <a:ext cx="108204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Item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discovery with Eureka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Done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 APIs &amp; service contracts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Done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Cloud Gateway routing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Done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JWT + Spring Security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In Progress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 event-driven communication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In Progress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Database-per-service with JPA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In Progress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Unit/Integration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In Progress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935B-AA0C-6D8B-E9D7-1077CCA44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16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435</Words>
  <Application>Microsoft Office PowerPoint</Application>
  <PresentationFormat>Widescreen</PresentationFormat>
  <Paragraphs>73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Narne Amrutha Lekha</cp:lastModifiedBy>
  <cp:revision>44</cp:revision>
  <dcterms:created xsi:type="dcterms:W3CDTF">2026-08-08T06:33:00Z</dcterms:created>
  <dcterms:modified xsi:type="dcterms:W3CDTF">2026-09-24T08:40:30Z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59E910E0E14542F0B138BD96482C7145_13</vt:lpwstr>
  </property>
</Properties>
</file>